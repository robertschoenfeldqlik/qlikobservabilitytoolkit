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80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× Qlik Cloud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Observability Stack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· Prometheus · Loki · Grafana · Python exporters · Qlik Sense apps</a:t>
            </a:r>
            <a:endParaRPr lang="en-US" sz="1600" dirty="0"/>
          </a:p>
        </p:txBody>
      </p:sp>
      <p:sp>
        <p:nvSpPr>
          <p:cNvPr id="6" name="Text 4">
            <a:hlinkClick r:id="rId1" tooltip="Open repo"/>
          </p:cNvPr>
          <p:cNvSpPr/>
          <p:nvPr/>
        </p:nvSpPr>
        <p:spPr>
          <a:xfrm>
            <a:off x="914400" y="3703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github.com/robertschoenfeldqlik/QlikObservabilityToolkit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09728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 tools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Talend observability surface (+ tenant-discovery meta-tool), auto-generated from OpenAPI specs.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N+N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8056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tenants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Talend + multiple Qlik tenants in one config.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68096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86384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6384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 logs · QVD upload · Qlik observability.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ploy/assets/qlik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5600" y="292608"/>
            <a:ext cx="1234440" cy="685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7432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Toolkit — architecture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45720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planes: data sources → collection &amp; control → storage, visualization &amp; analytics.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3383280" cy="4572000"/>
          </a:xfrm>
          <a:prstGeom prst="roundRect">
            <a:avLst>
              <a:gd name="adj" fmla="val 2162"/>
            </a:avLst>
          </a:prstGeom>
          <a:solidFill>
            <a:srgbClr val="F2F8F4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143560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114800" y="1325880"/>
            <a:ext cx="4160520" cy="4572000"/>
          </a:xfrm>
          <a:prstGeom prst="roundRect">
            <a:avLst>
              <a:gd name="adj" fmla="val 1758"/>
            </a:avLst>
          </a:prstGeom>
          <a:solidFill>
            <a:srgbClr val="F1F6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51960" y="1435608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COLLECTION + CONTROL PLANE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549640" y="1325880"/>
            <a:ext cx="3154680" cy="4572000"/>
          </a:xfrm>
          <a:prstGeom prst="roundRect">
            <a:avLst>
              <a:gd name="adj" fmla="val 2319"/>
            </a:avLst>
          </a:prstGeom>
          <a:solidFill>
            <a:srgbClr val="F4F1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0" y="14356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· VISUALIZE · ANALYZE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4360" y="1783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93579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360" y="1783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93579C"/>
          </a:solidFill>
          <a:ln/>
        </p:spPr>
      </p:sp>
      <p:pic>
        <p:nvPicPr>
          <p:cNvPr id="13" name="Image 1" descr="deploy/assets/icons/talend-clou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1933956"/>
            <a:ext cx="566928" cy="5669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08760" y="1892808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— N tenants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508760" y="218541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 · Observability · Exec-history · Audit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94360" y="2926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94360" y="2926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18" name="Image 2" descr="deploy/assets/icons/qlik-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3076956"/>
            <a:ext cx="566928" cy="56692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08760" y="3035808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— N tenants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508760" y="332841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 · Reloads · Audit · Quotas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94360" y="4069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658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94360" y="4069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6580"/>
          </a:solidFill>
          <a:ln/>
        </p:spPr>
      </p:sp>
      <p:pic>
        <p:nvPicPr>
          <p:cNvPr id="23" name="Image 3" descr="deploy/assets/icons/remote-eng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4219956"/>
            <a:ext cx="566928" cy="56692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508760" y="4178808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 Engine hosts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508760" y="447141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 job-management logs on Linux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4251960" y="1783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251960" y="1783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pic>
        <p:nvPicPr>
          <p:cNvPr id="28" name="Image 4" descr="deploy/assets/icons/mc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1416" y="1933956"/>
            <a:ext cx="566928" cy="56692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166360" y="189280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(TS)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5166360" y="218541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stdio · per-tenant routing · observability preset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4251960" y="2926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4251960" y="2926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pic>
        <p:nvPicPr>
          <p:cNvPr id="33" name="Image 5" descr="deploy/assets/icons/exporter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1416" y="3076956"/>
            <a:ext cx="566928" cy="566928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166360" y="303580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 ×4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5166360" y="332841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engine-logs · qlik-obs · qvd</a:t>
            </a:r>
            <a:endParaRPr lang="en-US" sz="900" dirty="0"/>
          </a:p>
        </p:txBody>
      </p:sp>
      <p:sp>
        <p:nvSpPr>
          <p:cNvPr id="36" name="Shape 28"/>
          <p:cNvSpPr/>
          <p:nvPr/>
        </p:nvSpPr>
        <p:spPr>
          <a:xfrm>
            <a:off x="4251960" y="4069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4251960" y="4069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38" name="Image 6" descr="deploy/assets/icons/extracto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71416" y="4219956"/>
            <a:ext cx="566928" cy="566928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5166360" y="417880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qlik-engine-extractor</a:t>
            </a:r>
            <a:endParaRPr lang="en-US" sz="1200" dirty="0"/>
          </a:p>
        </p:txBody>
      </p:sp>
      <p:sp>
        <p:nvSpPr>
          <p:cNvPr id="40" name="Text 31"/>
          <p:cNvSpPr/>
          <p:nvPr/>
        </p:nvSpPr>
        <p:spPr>
          <a:xfrm>
            <a:off x="5166360" y="447141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headless agent · self-diagnosing · heartbeats</a:t>
            </a:r>
            <a:endParaRPr lang="en-US" sz="900" dirty="0"/>
          </a:p>
        </p:txBody>
      </p:sp>
      <p:sp>
        <p:nvSpPr>
          <p:cNvPr id="41" name="Shape 32"/>
          <p:cNvSpPr/>
          <p:nvPr/>
        </p:nvSpPr>
        <p:spPr>
          <a:xfrm>
            <a:off x="8686800" y="1783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2D3543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8686800" y="1783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2D3543"/>
          </a:solidFill>
          <a:ln/>
        </p:spPr>
      </p:sp>
      <p:pic>
        <p:nvPicPr>
          <p:cNvPr id="43" name="Image 7" descr="deploy/assets/icons/prometheu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06256" y="1933956"/>
            <a:ext cx="566928" cy="566928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9601200" y="1892808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45" name="Text 35"/>
          <p:cNvSpPr/>
          <p:nvPr/>
        </p:nvSpPr>
        <p:spPr>
          <a:xfrm>
            <a:off x="9601200" y="218541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scrape all /metrics · 14d</a:t>
            </a:r>
            <a:endParaRPr lang="en-US" sz="900" dirty="0"/>
          </a:p>
        </p:txBody>
      </p:sp>
      <p:sp>
        <p:nvSpPr>
          <p:cNvPr id="46" name="Shape 36"/>
          <p:cNvSpPr/>
          <p:nvPr/>
        </p:nvSpPr>
        <p:spPr>
          <a:xfrm>
            <a:off x="8686800" y="2926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0CFC9"/>
            </a:solidFill>
            <a:prstDash val="solid"/>
          </a:ln>
        </p:spPr>
      </p:sp>
      <p:sp>
        <p:nvSpPr>
          <p:cNvPr id="47" name="Shape 37"/>
          <p:cNvSpPr/>
          <p:nvPr/>
        </p:nvSpPr>
        <p:spPr>
          <a:xfrm>
            <a:off x="8686800" y="2926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0CFC9"/>
          </a:solidFill>
          <a:ln/>
        </p:spPr>
      </p:sp>
      <p:pic>
        <p:nvPicPr>
          <p:cNvPr id="48" name="Image 8" descr="deploy/assets/icons/grafan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06256" y="3076956"/>
            <a:ext cx="566928" cy="566928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9601200" y="3035808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+ Grafana</a:t>
            </a:r>
            <a:endParaRPr lang="en-US" sz="1200" dirty="0"/>
          </a:p>
        </p:txBody>
      </p:sp>
      <p:sp>
        <p:nvSpPr>
          <p:cNvPr id="50" name="Text 39"/>
          <p:cNvSpPr/>
          <p:nvPr/>
        </p:nvSpPr>
        <p:spPr>
          <a:xfrm>
            <a:off x="9601200" y="332841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+ 2 dashboards</a:t>
            </a:r>
            <a:endParaRPr lang="en-US" sz="900" dirty="0"/>
          </a:p>
        </p:txBody>
      </p:sp>
      <p:sp>
        <p:nvSpPr>
          <p:cNvPr id="51" name="Shape 40"/>
          <p:cNvSpPr/>
          <p:nvPr/>
        </p:nvSpPr>
        <p:spPr>
          <a:xfrm>
            <a:off x="8686800" y="4069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52" name="Shape 41"/>
          <p:cNvSpPr/>
          <p:nvPr/>
        </p:nvSpPr>
        <p:spPr>
          <a:xfrm>
            <a:off x="8686800" y="4069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53" name="Image 9" descr="deploy/assets/icons/qlik-ap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06256" y="4219956"/>
            <a:ext cx="566928" cy="566928"/>
          </a:xfrm>
          <a:prstGeom prst="rect">
            <a:avLst/>
          </a:prstGeom>
        </p:spPr>
      </p:pic>
      <p:sp>
        <p:nvSpPr>
          <p:cNvPr id="54" name="Text 42"/>
          <p:cNvSpPr/>
          <p:nvPr/>
        </p:nvSpPr>
        <p:spPr>
          <a:xfrm>
            <a:off x="9601200" y="4178808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Cloud app</a:t>
            </a:r>
            <a:endParaRPr lang="en-US" sz="1200" dirty="0"/>
          </a:p>
        </p:txBody>
      </p:sp>
      <p:sp>
        <p:nvSpPr>
          <p:cNvPr id="55" name="Text 43"/>
          <p:cNvSpPr/>
          <p:nvPr/>
        </p:nvSpPr>
        <p:spPr>
          <a:xfrm>
            <a:off x="9601200" y="447141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QVD-driven trend / BI</a:t>
            </a:r>
            <a:endParaRPr lang="en-US" sz="900" dirty="0"/>
          </a:p>
        </p:txBody>
      </p:sp>
      <p:sp>
        <p:nvSpPr>
          <p:cNvPr id="56" name="Shape 44"/>
          <p:cNvSpPr/>
          <p:nvPr/>
        </p:nvSpPr>
        <p:spPr>
          <a:xfrm>
            <a:off x="3703320" y="2217420"/>
            <a:ext cx="548640" cy="0"/>
          </a:xfrm>
          <a:prstGeom prst="line">
            <a:avLst/>
          </a:prstGeom>
          <a:noFill/>
          <a:ln w="22225">
            <a:solidFill>
              <a:srgbClr val="93579C"/>
            </a:solidFill>
            <a:prstDash val="solid"/>
            <a:tailEnd type="triangle"/>
          </a:ln>
        </p:spPr>
      </p:sp>
      <p:sp>
        <p:nvSpPr>
          <p:cNvPr id="57" name="Shape 45"/>
          <p:cNvSpPr/>
          <p:nvPr/>
        </p:nvSpPr>
        <p:spPr>
          <a:xfrm>
            <a:off x="3703320" y="3360420"/>
            <a:ext cx="548640" cy="1143000"/>
          </a:xfrm>
          <a:prstGeom prst="line">
            <a:avLst/>
          </a:prstGeom>
          <a:noFill/>
          <a:ln w="22225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Shape 46"/>
          <p:cNvSpPr/>
          <p:nvPr/>
        </p:nvSpPr>
        <p:spPr>
          <a:xfrm>
            <a:off x="3703320" y="4503420"/>
            <a:ext cx="548640" cy="0"/>
          </a:xfrm>
          <a:prstGeom prst="line">
            <a:avLst/>
          </a:prstGeom>
          <a:noFill/>
          <a:ln w="22225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59" name="Shape 47"/>
          <p:cNvSpPr/>
          <p:nvPr/>
        </p:nvSpPr>
        <p:spPr>
          <a:xfrm>
            <a:off x="8138160" y="2217420"/>
            <a:ext cx="548640" cy="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0" name="Shape 48"/>
          <p:cNvSpPr/>
          <p:nvPr/>
        </p:nvSpPr>
        <p:spPr>
          <a:xfrm>
            <a:off x="8138160" y="3360420"/>
            <a:ext cx="548640" cy="-114300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1" name="Shape 49"/>
          <p:cNvSpPr/>
          <p:nvPr/>
        </p:nvSpPr>
        <p:spPr>
          <a:xfrm>
            <a:off x="8138160" y="4503420"/>
            <a:ext cx="548640" cy="-228600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2" name="Shape 50"/>
          <p:cNvSpPr/>
          <p:nvPr/>
        </p:nvSpPr>
        <p:spPr>
          <a:xfrm>
            <a:off x="10122408" y="2628900"/>
            <a:ext cx="0" cy="73152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3" name="Shape 51"/>
          <p:cNvSpPr/>
          <p:nvPr/>
        </p:nvSpPr>
        <p:spPr>
          <a:xfrm>
            <a:off x="10122408" y="3771900"/>
            <a:ext cx="0" cy="731520"/>
          </a:xfrm>
          <a:prstGeom prst="line">
            <a:avLst/>
          </a:prstGeom>
          <a:noFill/>
          <a:ln w="22225">
            <a:solidFill>
              <a:srgbClr val="009845"/>
            </a:solidFill>
            <a:prstDash val="solid"/>
            <a:tailEnd type="triangle"/>
          </a:ln>
        </p:spPr>
      </p:sp>
      <p:pic>
        <p:nvPicPr>
          <p:cNvPr id="64" name="Image 10" descr="deploy/assets/icons/qv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016752"/>
            <a:ext cx="384048" cy="384048"/>
          </a:xfrm>
          <a:prstGeom prst="rect">
            <a:avLst/>
          </a:prstGeom>
        </p:spPr>
      </p:pic>
      <p:sp>
        <p:nvSpPr>
          <p:cNvPr id="65" name="Text 52"/>
          <p:cNvSpPr/>
          <p:nvPr/>
        </p:nvSpPr>
        <p:spPr>
          <a:xfrm>
            <a:off x="914400" y="60350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QVD bridge: Prometheus PromQL → long-form (timestamp, metric, labels, value) rows → QVD via pyqvd → Qlik Cloud Data Files API → analyst sheets.</a:t>
            </a:r>
            <a:endParaRPr lang="en-US" sz="1000" dirty="0"/>
          </a:p>
        </p:txBody>
      </p:sp>
      <p:sp>
        <p:nvSpPr>
          <p:cNvPr id="66" name="Shape 5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9845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Multi-tenant by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config.json (v2 schema) lists every Talend tenant and every Qlik tenant. The UI manages them; exporters fan out by reading the same file.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tenants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prod-us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(US)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1168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https://api.us.cloud.talend.com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7492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dev-eu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(EU)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https://api.eu.cloud.talend.com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1168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cloud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01168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https://api.internal.example.com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  (URL override)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9319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ap-test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 testing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9319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https://api.ap.cloud.talend.com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011680" y="4206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4572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azure-w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482803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 US-West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011680" y="4572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https://api.us-west.cloud.talend.com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011680" y="48463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tenants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qlik-prod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 tenant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https://prod.us.qlikcloud.com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7240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keychain · DataFiles connection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83564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37" name="Text 35"/>
          <p:cNvSpPr/>
          <p:nvPr/>
        </p:nvSpPr>
        <p:spPr>
          <a:xfrm>
            <a:off x="1083564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qlik-eu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 tenant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https://eu.eu.qlikcloud.com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qlik-dev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sandbox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https://dev.us.qlikcloud.com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surface · configuration UI · Python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PRESETS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tools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Default. Pure read-only: observability-metrics, execution-logs, execution-history-search, plus the tenant-discovery meta-tool. Drops audit.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315468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 — LOADED OUT OF THE BOX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logging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 observability + audit-logs (identity events).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5605272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Observability-only by design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1874520"/>
            <a:ext cx="5303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orchestration or admin endpoints are exposed. The MCP server defaults to the observability preset; only the observability and logging presets ship. Need a wider surface? Pass an explicit TMC_APIS=&lt;comma,list&gt; — but the product is scoped to read-only observability.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749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UI (npm run config-ui)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114800"/>
            <a:ext cx="2697480" cy="36576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Per-tenant region + URL override. Test connection. File or OS-keyring storage.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91840" y="4114800"/>
            <a:ext cx="2697480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23" name="Text 21"/>
          <p:cNvSpPr/>
          <p:nvPr/>
        </p:nvSpPr>
        <p:spPr>
          <a:xfrm>
            <a:off x="342900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2900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Tenant URL + API key + Data Files connection ID. Test against /api/v1/users/me.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4114800"/>
            <a:ext cx="2697480" cy="36576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27" name="Text 25"/>
          <p:cNvSpPr/>
          <p:nvPr/>
        </p:nvSpPr>
        <p:spPr>
          <a:xfrm>
            <a:off x="626364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Exporters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6364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status of every Python exporter (Docker-aware). Start / Stop with one click. Shows active series count.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96112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61120" y="4114800"/>
            <a:ext cx="2697480" cy="36576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1" name="Text 29"/>
          <p:cNvSpPr/>
          <p:nvPr/>
        </p:nvSpPr>
        <p:spPr>
          <a:xfrm>
            <a:off x="909828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9828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file location, keyring backend status, nuke-all button, shutdown button.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65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index in HELP.md. Every external doc this project relies on, sorted by topic.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5" name="Text 3">
            <a:hlinkClick r:id="rId1" tooltip="Open repo"/>
          </p:cNvPr>
          <p:cNvSpPr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▸  github.com/robertschoenfeldqlik/QlikObservabilityToolkit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APIs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https://talend.qlik.dev/apis/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Remote Engine job logs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9536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https://help.qlik.com/talend/en-US/remote-engine-user-guide-linux/Cloud/job-management-logs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APIs (qlik.dev)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83464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Files API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9536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https://qlik.dev/apis/rest/data-files/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 key management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83464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https://qlik.dev/authenticate/api-key/manage-api-keys/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UI palette source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59536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https://qlik.dev/manage/data-connections/create-data-connections/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Context Protocol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83464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https://modelcontextprotocol.io/specification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metric naming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9536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https://prometheus.io/docs/practices/naming/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Grafana dashboard provisioning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3464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https://grafana.com/docs/grafana/latest/administration/provisioning/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/ Promtail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9536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https://grafana.com/docs/loki/latest/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pyqvd (Python QVD I/O)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464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https://pypi.org/project/pyqvd/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@napi-rs/keyring (OS keyring binding)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9536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https://github.com/Brooooooklyn/keyring-node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47104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Toolkit · built on the Qlik stack · Inter typeface · #009845 / #006580 / #19416C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Built on the Qlik stack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Qlik Observability Toolkit Architecture</dc:title>
  <dc:subject>PptxGenJS Presentation</dc:subject>
  <dc:creator>Qlik Observability Toolkit Server</dc:creator>
  <cp:lastModifiedBy>Qlik Observability Toolkit Server</cp:lastModifiedBy>
  <cp:revision>1</cp:revision>
  <dcterms:created xsi:type="dcterms:W3CDTF">2026-06-09T20:07:30Z</dcterms:created>
  <dcterms:modified xsi:type="dcterms:W3CDTF">2026-06-09T20:07:30Z</dcterms:modified>
</cp:coreProperties>
</file>