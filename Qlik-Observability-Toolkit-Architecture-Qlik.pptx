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B570B7-D69D-8DA2-462B-C878CD3E6A3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AE97F9-BA58-23B9-0185-F21B203B3B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743094-6F16-5A21-004B-F387B30DA7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C65513-F6F0-B44D-87EC-52ED2F81CB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99249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9B17D6-D9A8-D847-8F91-B91B380ED254}" type="datetime1">
              <a:rPr lang="en-US" smtClean="0"/>
              <a:t>4/30/24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E009A8-0C93-E046-9A12-3E9DA893E9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023752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0.png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5D63AA0-83D5-6AD3-2D92-4C78A0C59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434EEFA-9B63-F89B-7B17-B6F8912D3E1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3470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F75CD2DC-51AA-9BE9-DE02-96565C25B2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77" y="0"/>
            <a:ext cx="12192000" cy="6858000"/>
          </a:xfrm>
          <a:prstGeom prst="rect">
            <a:avLst/>
          </a:prstGeom>
        </p:spPr>
      </p:pic>
      <p:sp>
        <p:nvSpPr>
          <p:cNvPr id="23" name="Title 1">
            <a:extLst>
              <a:ext uri="{FF2B5EF4-FFF2-40B4-BE49-F238E27FC236}">
                <a16:creationId xmlns:a16="http://schemas.microsoft.com/office/drawing/2014/main" id="{3FC4B43D-40E5-215E-199A-669555AB43E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cover slide for all uses</a:t>
            </a:r>
          </a:p>
        </p:txBody>
      </p:sp>
      <p:sp>
        <p:nvSpPr>
          <p:cNvPr id="24" name="Subtitle 2">
            <a:extLst>
              <a:ext uri="{FF2B5EF4-FFF2-40B4-BE49-F238E27FC236}">
                <a16:creationId xmlns:a16="http://schemas.microsoft.com/office/drawing/2014/main" id="{6F1F0BF3-9EE8-74E5-293F-EE8C88481C3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29AF862F-D761-E769-9D25-E9A31103033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31C66497-2842-3EEA-AAA4-9E1F67E927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C19CD83D-10D9-5471-79E0-A813BEB5A2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F84F53E-8603-BFDE-B2F4-554C1A4BA20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4177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34B9C-16AD-6247-87EF-1591C4E80E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cover slide for analytics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5E54-7E07-7B9B-3D30-CE879F2ADA4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6B88179-8E19-AEEA-7C12-2193874EC8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852DBD6C-6393-4015-5BE5-E756963B7F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B1065577-E891-979D-F5BB-7C6B755F9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9C2FCF2-4E29-EED1-5D84-0DBE995AEAA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738" t="38097" r="41958" b="-1231"/>
          <a:stretch/>
        </p:blipFill>
        <p:spPr>
          <a:xfrm>
            <a:off x="6293224" y="1"/>
            <a:ext cx="5898776" cy="6858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85AB4620-118E-B232-6E87-74157253DC0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9997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cover slide for data integration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BC3EC8C-B7FA-1224-8356-981FA134E3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87201CC-6F60-363F-A04E-409C2EEF4A9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714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BF5B6-794E-B35A-3AC9-931068BA4C6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 cover slide for presentations that cover AI or ML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B40B1CE-D8D7-DC6F-4390-31D68358CAE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D5FEE04-5C39-AEEF-053B-98E65F7B674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5ABBDE62-C7C2-4B81-0FA5-34AB4C74A9B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48D6B784-4CBC-0915-02F6-2B8E4889D31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868682DB-2182-5096-B24B-89DA74D31A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341" t="4866" r="33235" b="20027"/>
          <a:stretch/>
        </p:blipFill>
        <p:spPr>
          <a:xfrm>
            <a:off x="6400800" y="0"/>
            <a:ext cx="57912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AF1CEE5F-2B81-6CF8-CDEA-8E9779FEB7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3678"/>
            <a:ext cx="1741194" cy="967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9214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211AD-FACA-FA16-6AC9-88E59FF0C3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4" y="1811992"/>
            <a:ext cx="5645426" cy="2309172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quality cover slide for data quality &amp; governance presentations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4DE177-0CE5-27BE-8C59-49539DD2ABA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4" y="4275802"/>
            <a:ext cx="5645426" cy="365126"/>
          </a:xfrm>
        </p:spPr>
        <p:txBody>
          <a:bodyPr anchor="ctr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3E76B6C2-3112-C5F8-6521-C2E70AEE31F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0850" y="5102124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1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defRPr sz="1000"/>
            </a:lvl2pPr>
            <a:lvl3pPr>
              <a:defRPr sz="1000"/>
            </a:lvl3pPr>
            <a:lvl4pPr>
              <a:defRPr sz="1000"/>
            </a:lvl4pPr>
            <a:lvl5pPr>
              <a:defRPr sz="10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995ECAD9-4262-FC9E-09C4-0939165C2CF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0574" y="5396346"/>
            <a:ext cx="5645150" cy="270771"/>
          </a:xfrm>
        </p:spPr>
        <p:txBody>
          <a:bodyPr>
            <a:noAutofit/>
          </a:bodyPr>
          <a:lstStyle>
            <a:lvl1pPr marL="0" indent="0">
              <a:buNone/>
              <a:defRPr sz="16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Job Title</a:t>
            </a:r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820A854-FAFA-CC16-19D4-D65B9D1CDD8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0297" y="6104862"/>
            <a:ext cx="5645426" cy="270772"/>
          </a:xfrm>
        </p:spPr>
        <p:txBody>
          <a:bodyPr anchor="ctr">
            <a:noAutofit/>
          </a:bodyPr>
          <a:lstStyle>
            <a:lvl1pPr marL="0" indent="0">
              <a:buNone/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/>
              <a:t>Optional Date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B19FDE6-D5B9-DB4F-2322-54FB6A1E06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431" t="14680" r="27945" b="33127"/>
          <a:stretch/>
        </p:blipFill>
        <p:spPr>
          <a:xfrm>
            <a:off x="6591300" y="0"/>
            <a:ext cx="56007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0C3FE82-F676-639F-F2FD-868BBC2F561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23111" y="287095"/>
            <a:ext cx="1741195" cy="967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131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73F66079-37BB-86DD-F9F3-FD9EF2D9DCA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62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28AD91B8-3334-630B-BD66-9DDD0FB55C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Overarching divider slide for all uses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</p:spTree>
    <p:extLst>
      <p:ext uri="{BB962C8B-B14F-4D97-AF65-F5344CB8AC3E}">
        <p14:creationId xmlns:p14="http://schemas.microsoft.com/office/powerpoint/2010/main" val="27169949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0" y="2584918"/>
            <a:ext cx="6396543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Analytics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449D2D-1DE2-A12B-DF18-8F2A463EB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8950" t="26968" r="7310" b="26967"/>
          <a:stretch/>
        </p:blipFill>
        <p:spPr>
          <a:xfrm flipH="1">
            <a:off x="7168924" y="1"/>
            <a:ext cx="50230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538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Data Integration 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B7888F5-ED04-B7C0-428C-F88F2D92C7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7238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5999" y="2231551"/>
            <a:ext cx="5645426" cy="1875135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95999" y="4261323"/>
            <a:ext cx="5645427" cy="87673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B7F54775-4409-FA0E-1918-BDE657018F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3181" t="53449" r="4109" b="2530"/>
          <a:stretch/>
        </p:blipFill>
        <p:spPr>
          <a:xfrm>
            <a:off x="0" y="-1"/>
            <a:ext cx="6095999" cy="628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1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3D6199-7E4E-EC3E-01B7-27A061D65B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0571" y="2584918"/>
            <a:ext cx="5645426" cy="1463664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AI/ML</a:t>
            </a:r>
            <a:br>
              <a:rPr lang="en-US" dirty="0"/>
            </a:br>
            <a:r>
              <a:rPr lang="en-US" dirty="0"/>
              <a:t>divider slide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96EA256-34A4-5996-DCC4-F4ADF473332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0571" y="4203220"/>
            <a:ext cx="5645427" cy="876734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This is for a subtitle optional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61E1775-A956-58F2-BFA3-F17F4CF652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38580" b="13708"/>
          <a:stretch/>
        </p:blipFill>
        <p:spPr>
          <a:xfrm flipH="1">
            <a:off x="5005180" y="0"/>
            <a:ext cx="7186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96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72198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15754FC0-BCD4-FF89-6C43-EB0FB0D48C2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8954" y="1084374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6589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856435AF-B0F2-25D6-2D1E-DA249F6CF9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88953" y="3048765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0" name="Text Placeholder 24">
            <a:extLst>
              <a:ext uri="{FF2B5EF4-FFF2-40B4-BE49-F238E27FC236}">
                <a16:creationId xmlns:a16="http://schemas.microsoft.com/office/drawing/2014/main" id="{E49D86B6-48D2-C999-6FE3-1FA49C461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00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1" y="769276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7E926548-E618-967B-2757-DE80AC5DFE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208480" y="1081452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8480" y="274583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6D74E6FE-78EB-9A04-4843-7898E6204A4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208479" y="305801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34675"/>
            <a:ext cx="2533830" cy="312176"/>
          </a:xfrm>
        </p:spPr>
        <p:txBody>
          <a:bodyPr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5" name="Text Placeholder 24">
            <a:extLst>
              <a:ext uri="{FF2B5EF4-FFF2-40B4-BE49-F238E27FC236}">
                <a16:creationId xmlns:a16="http://schemas.microsoft.com/office/drawing/2014/main" id="{6A4C301D-28CA-8069-8CAF-248ADC83BB2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208479" y="5046851"/>
            <a:ext cx="2533831" cy="606644"/>
          </a:xfrm>
        </p:spPr>
        <p:txBody>
          <a:bodyPr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>
              <a:spcBef>
                <a:spcPts val="1000"/>
              </a:spcBef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.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42B38840-7A94-7206-D1BC-A85087AFF88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21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24">
            <a:extLst>
              <a:ext uri="{FF2B5EF4-FFF2-40B4-BE49-F238E27FC236}">
                <a16:creationId xmlns:a16="http://schemas.microsoft.com/office/drawing/2014/main" id="{0058478C-391D-7C7E-2C6A-2ABA668A054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88955" y="769275"/>
            <a:ext cx="2533830" cy="918819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4" name="Text Placeholder 24">
            <a:extLst>
              <a:ext uri="{FF2B5EF4-FFF2-40B4-BE49-F238E27FC236}">
                <a16:creationId xmlns:a16="http://schemas.microsoft.com/office/drawing/2014/main" id="{6C254C9F-B4F7-BCB1-A3CD-100FAC2287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988954" y="2734334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CAA20ED5-C993-E12B-C725-0C6F829C4EC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600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8432D35A-5207-5517-8B62-F09F55FF7DF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208480" y="759521"/>
            <a:ext cx="2533830" cy="928575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9049CEC8-CF6D-2E4C-1A6B-66BC6879FF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204322" y="2734335"/>
            <a:ext cx="2533830" cy="877624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2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44" name="Text Placeholder 24">
            <a:extLst>
              <a:ext uri="{FF2B5EF4-FFF2-40B4-BE49-F238E27FC236}">
                <a16:creationId xmlns:a16="http://schemas.microsoft.com/office/drawing/2014/main" id="{83204BF7-2D57-A4E3-238F-38B7DA49D5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08480" y="4708725"/>
            <a:ext cx="2533830" cy="918820"/>
          </a:xfrm>
        </p:spPr>
        <p:txBody>
          <a:bodyPr anchor="ctr">
            <a:noAutofit/>
          </a:bodyPr>
          <a:lstStyle>
            <a:lvl1pPr marL="0" indent="0">
              <a:buNone/>
              <a:defRPr b="1" i="0">
                <a:solidFill>
                  <a:schemeClr val="accent3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pic>
        <p:nvPicPr>
          <p:cNvPr id="9" name="Picture 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DF7D1E1D-A0AB-B3C2-F342-BF4BB539D7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21" name="Picture 2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3B048BF8-4C94-4C13-8044-21E9DB3932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81939B3B-09E2-4B85-5315-8626D545843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393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300C71-73F6-E27E-A89C-C30F052C6E6E}"/>
              </a:ext>
            </a:extLst>
          </p:cNvPr>
          <p:cNvSpPr/>
          <p:nvPr userDrawn="1"/>
        </p:nvSpPr>
        <p:spPr>
          <a:xfrm>
            <a:off x="0" y="0"/>
            <a:ext cx="284710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12CEF313-4E82-4E05-E919-45A6ADE24A62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3633234" y="759522"/>
            <a:ext cx="7774996" cy="5338230"/>
          </a:xfrm>
        </p:spPr>
        <p:txBody>
          <a:bodyPr>
            <a:noAutofit/>
          </a:bodyPr>
          <a:lstStyle>
            <a:lvl1pPr>
              <a:buClr>
                <a:schemeClr val="bg2"/>
              </a:buCl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F429545-9952-A80B-8C58-D61954A0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3" y="6097752"/>
            <a:ext cx="961259" cy="534032"/>
          </a:xfrm>
          <a:prstGeom prst="rect">
            <a:avLst/>
          </a:prstGeom>
        </p:spPr>
      </p:pic>
      <p:pic>
        <p:nvPicPr>
          <p:cNvPr id="4" name="Picture 3" descr="A green and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CC815499-EBF4-4487-3194-C4879D9616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5610112" cy="1477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3416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08485D64-40C9-27C1-86DF-DD3B4FC96C00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3633233" y="759521"/>
            <a:ext cx="8108193" cy="4537308"/>
          </a:xfrm>
        </p:spPr>
        <p:txBody>
          <a:bodyPr anchor="t">
            <a:noAutofit/>
          </a:bodyPr>
          <a:lstStyle>
            <a:lvl1pPr marL="457200" indent="-4572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•"/>
              <a:defRPr sz="24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400"/>
            </a:lvl3pPr>
            <a:lvl4pPr>
              <a:lnSpc>
                <a:spcPct val="100000"/>
              </a:lnSpc>
              <a:defRPr sz="1200"/>
            </a:lvl4pPr>
            <a:lvl5pPr>
              <a:lnSpc>
                <a:spcPct val="100000"/>
              </a:lnSpc>
              <a:defRPr sz="1200"/>
            </a:lvl5pPr>
          </a:lstStyle>
          <a:p>
            <a:pPr lvl="0"/>
            <a:r>
              <a:rPr lang="en-US" dirty="0"/>
              <a:t>Click to enter text</a:t>
            </a:r>
          </a:p>
        </p:txBody>
      </p:sp>
      <p:pic>
        <p:nvPicPr>
          <p:cNvPr id="19" name="Picture 18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B9A3DA7-829B-DEA1-21F1-97B56CCF9C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9840"/>
            <a:ext cx="6096000" cy="587891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F4C0CC8-EB18-86FF-6BE9-11ECCB4FF6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342" t="84856"/>
          <a:stretch/>
        </p:blipFill>
        <p:spPr>
          <a:xfrm>
            <a:off x="2246243" y="5829375"/>
            <a:ext cx="9955696" cy="1038563"/>
          </a:xfrm>
          <a:prstGeom prst="rect">
            <a:avLst/>
          </a:prstGeom>
        </p:spPr>
      </p:pic>
      <p:pic>
        <p:nvPicPr>
          <p:cNvPr id="2" name="Graphic 1">
            <a:extLst>
              <a:ext uri="{FF2B5EF4-FFF2-40B4-BE49-F238E27FC236}">
                <a16:creationId xmlns:a16="http://schemas.microsoft.com/office/drawing/2014/main" id="{B043F06F-FF47-77D0-FD57-5A38BE173A0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389133" y="6101755"/>
            <a:ext cx="961259" cy="534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1375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19DBBE2E-0998-460C-49E7-9B5206761C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5467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 Title, Subtitle and Content w/ Contrai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buClr>
                <a:schemeClr val="accent4"/>
              </a:buClr>
              <a:defRPr lang="en-US" dirty="0"/>
            </a:lvl1pPr>
            <a:lvl2pPr>
              <a:buClr>
                <a:schemeClr val="accent4"/>
              </a:buClr>
              <a:defRPr lang="en-US" dirty="0"/>
            </a:lvl2pPr>
            <a:lvl3pPr>
              <a:buClr>
                <a:schemeClr val="accent4"/>
              </a:buClr>
              <a:defRPr lang="en-US" dirty="0"/>
            </a:lvl3pPr>
            <a:lvl4pPr>
              <a:buClr>
                <a:schemeClr val="accent4"/>
              </a:buClr>
              <a:defRPr lang="en-US" dirty="0"/>
            </a:lvl4pPr>
            <a:lvl5pPr>
              <a:buClr>
                <a:schemeClr val="accent4"/>
              </a:buCl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CE353FC-885A-FC28-034A-8B470B17737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636"/>
            <a:ext cx="795418" cy="441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910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407221"/>
            <a:ext cx="11291736" cy="462544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5" name="Picture 14" descr="A black background with a green line&#10;&#10;Description automatically generated">
            <a:extLst>
              <a:ext uri="{FF2B5EF4-FFF2-40B4-BE49-F238E27FC236}">
                <a16:creationId xmlns:a16="http://schemas.microsoft.com/office/drawing/2014/main" id="{98AAB693-A520-4D1A-8A2F-E96431EBC9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2191656" y="1"/>
            <a:ext cx="10000343" cy="758536"/>
          </a:xfrm>
          <a:prstGeom prst="rect">
            <a:avLst/>
          </a:prstGeom>
        </p:spPr>
      </p:pic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9A7177F-EBD1-3FF1-CF25-25AAAD5CE0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25445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1"/>
            <a:ext cx="11291736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F6E8D7C-BCD2-BF09-E007-0B3E40E78D8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1908FA4E-4464-0E46-CCCA-B32AA9B8FE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41E6EAE-B346-57DA-21D4-F8B722AD8D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31134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1836430"/>
            <a:ext cx="5315225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9" y="1836430"/>
            <a:ext cx="5314338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A green and black rectangle&#10;&#10;Description automatically generated">
            <a:extLst>
              <a:ext uri="{FF2B5EF4-FFF2-40B4-BE49-F238E27FC236}">
                <a16:creationId xmlns:a16="http://schemas.microsoft.com/office/drawing/2014/main" id="{861C90BE-518E-0670-C419-07FB292B2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529664" y="1"/>
            <a:ext cx="10662335" cy="36512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7796A00-1FEA-D008-F2F8-EABE69AE9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9A34EB7B-3727-E8E9-13D8-1DF95DF5DFA9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2"/>
            <a:ext cx="11291736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D7EF99A-B069-A312-85ED-251326BBD94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5EFED929-2619-23F4-D192-AB426C52C80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A2C1EA0-A4D1-6CB5-F3AF-8E0CA04A182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1126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2 Content on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1836430"/>
            <a:ext cx="5315224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BFA99523-1D08-BFBD-57F6-289CF88497F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7088" y="1836430"/>
            <a:ext cx="5314337" cy="41962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940A5A4-F7F8-6AE6-7462-D71B5D3F8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4"/>
            <a:ext cx="11291735" cy="577716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2F47D7E-344A-96C0-38DE-837E5CE2267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057631"/>
            <a:ext cx="11291735" cy="429208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C08B33AD-B899-6D5D-9216-5716B03CE76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B21125A-19CA-D45C-1A96-0CB53E5EF13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29665" y="6461872"/>
            <a:ext cx="7123447" cy="196543"/>
          </a:xfrm>
        </p:spPr>
        <p:txBody>
          <a:bodyPr>
            <a:noAutofit/>
          </a:bodyPr>
          <a:lstStyle>
            <a:lvl1pPr marL="0" indent="0">
              <a:buNone/>
              <a:defRPr sz="1100">
                <a:solidFill>
                  <a:schemeClr val="accent6"/>
                </a:solidFill>
              </a:defRPr>
            </a:lvl1pPr>
            <a:lvl2pPr>
              <a:defRPr sz="1400">
                <a:solidFill>
                  <a:schemeClr val="accent6"/>
                </a:solidFill>
              </a:defRPr>
            </a:lvl2pPr>
            <a:lvl3pPr>
              <a:defRPr sz="1400">
                <a:solidFill>
                  <a:schemeClr val="accent6"/>
                </a:solidFill>
              </a:defRPr>
            </a:lvl3pPr>
            <a:lvl4pPr>
              <a:defRPr sz="1400">
                <a:solidFill>
                  <a:schemeClr val="accent6"/>
                </a:solidFill>
              </a:defRPr>
            </a:lvl4pPr>
            <a:lvl5pPr>
              <a:defRPr sz="1400">
                <a:solidFill>
                  <a:schemeClr val="accent6"/>
                </a:solidFill>
              </a:defRPr>
            </a:lvl5pPr>
          </a:lstStyle>
          <a:p>
            <a:pPr lvl="0"/>
            <a:r>
              <a:rPr lang="en-US" dirty="0"/>
              <a:t>Footnotes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ADF283-8D12-2C14-DA6D-7EBF3C7CA6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8132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1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60E0266B-1A00-373C-6E5C-51A494B3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5C8E2C4-1504-1B5F-4CD1-8404B92491CD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5" name="Picture 14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1544D8E8-15D0-01C7-9EE4-8B406D01C5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195728" y="122283"/>
            <a:ext cx="11000410" cy="557536"/>
          </a:xfrm>
          <a:prstGeom prst="rect">
            <a:avLst/>
          </a:prstGeom>
        </p:spPr>
      </p:pic>
      <p:sp>
        <p:nvSpPr>
          <p:cNvPr id="7" name="Slide Number Placeholder 13">
            <a:extLst>
              <a:ext uri="{FF2B5EF4-FFF2-40B4-BE49-F238E27FC236}">
                <a16:creationId xmlns:a16="http://schemas.microsoft.com/office/drawing/2014/main" id="{C89A1DB0-6328-ABC6-1D97-AE6EFEC9878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B743715-1667-FBBD-BB01-F8FA3AE050D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3903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t. Title, Subtitle and Content w/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FA2791E-F6D3-B661-BD3F-3DCD8E5B11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26200" y="479915"/>
            <a:ext cx="5315225" cy="555274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27AE9BEE-6FA6-042F-21FB-80B2AC262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EF14B6-C419-FDB0-239C-8C2A6D55A3DF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Slide Number Placeholder 13">
            <a:extLst>
              <a:ext uri="{FF2B5EF4-FFF2-40B4-BE49-F238E27FC236}">
                <a16:creationId xmlns:a16="http://schemas.microsoft.com/office/drawing/2014/main" id="{3068E4FA-B3AC-5F34-2714-E1E36D50D35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AAAAA52-8570-BB98-76E9-8BD279443D3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6307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Subtitle and 2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11D73-7A17-30B7-01A0-87E7709C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8" y="1325268"/>
            <a:ext cx="5316110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426201" y="1326918"/>
            <a:ext cx="5316114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89" y="2254413"/>
            <a:ext cx="5316109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6201" y="2251386"/>
            <a:ext cx="5316110" cy="380485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24" name="Picture 23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4CE69C7-AA0C-8790-C757-EBF9B7E1E0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9710"/>
          </a:xfrm>
          <a:prstGeom prst="rect">
            <a:avLst/>
          </a:prstGeom>
        </p:spPr>
      </p:pic>
      <p:sp>
        <p:nvSpPr>
          <p:cNvPr id="13" name="Slide Number Placeholder 13">
            <a:extLst>
              <a:ext uri="{FF2B5EF4-FFF2-40B4-BE49-F238E27FC236}">
                <a16:creationId xmlns:a16="http://schemas.microsoft.com/office/drawing/2014/main" id="{E08B4A01-1405-E3F6-BED0-5A11FB573BB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1AFBE57-DC24-166B-BAEA-799A430246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3623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3 Subtitle and Content w/ Contrai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C3814B1-633C-E8B0-5941-E1E7F6FA0BDB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86" y="1325268"/>
            <a:ext cx="3499197" cy="895732"/>
          </a:xfrm>
        </p:spPr>
        <p:txBody>
          <a:bodyPr anchor="b">
            <a:no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0B991CD-48C1-C467-6A1C-9119669C561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46401" y="1326918"/>
            <a:ext cx="3499197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7ACD2F3-5CBE-4E9B-4E17-AA641AAFB6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690" y="2257440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A0C6141-BBB3-C613-F91D-4A018704B01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346402" y="225441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BF1A17F7-5DB3-CC7E-7DBA-9D0964A8E5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42228" y="1325268"/>
            <a:ext cx="3499198" cy="89408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69D5E2C-5A7B-A57E-2536-0587472FDD3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43114" y="2252763"/>
            <a:ext cx="3499196" cy="380485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 descr="A green and black background&#10;&#10;Description automatically generated">
            <a:extLst>
              <a:ext uri="{FF2B5EF4-FFF2-40B4-BE49-F238E27FC236}">
                <a16:creationId xmlns:a16="http://schemas.microsoft.com/office/drawing/2014/main" id="{F3028C0F-81B5-D95E-D0DD-35A10BF144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0" y="0"/>
            <a:ext cx="12192000" cy="782321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201F72C7-7397-45FF-CD1D-D2925B2E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11291736" cy="534032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Slide Number Placeholder 13">
            <a:extLst>
              <a:ext uri="{FF2B5EF4-FFF2-40B4-BE49-F238E27FC236}">
                <a16:creationId xmlns:a16="http://schemas.microsoft.com/office/drawing/2014/main" id="{EE4CE6B4-AD4C-E75C-D588-124E938EDE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2AA1343-69E4-00A1-B60F-C322C11BB19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4119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4B63DB8-E6C7-12FC-DFB9-23C5DC7EF80E}"/>
              </a:ext>
            </a:extLst>
          </p:cNvPr>
          <p:cNvSpPr>
            <a:spLocks noGrp="1"/>
          </p:cNvSpPr>
          <p:nvPr>
            <p:ph type="subTitle" idx="14"/>
          </p:nvPr>
        </p:nvSpPr>
        <p:spPr>
          <a:xfrm>
            <a:off x="449690" y="1612774"/>
            <a:ext cx="5315225" cy="892383"/>
          </a:xfrm>
        </p:spPr>
        <p:txBody>
          <a:bodyPr anchor="t">
            <a:noAutofit/>
          </a:bodyPr>
          <a:lstStyle>
            <a:lvl1pPr marL="0" indent="0" algn="l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2809462"/>
            <a:ext cx="5315225" cy="32498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0B350EC-B356-456C-1E0F-62F053685A6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3840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4D2A0828-126E-FEBA-1AB9-20FC24EBC65F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6426200" y="0"/>
            <a:ext cx="57658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EDD544-65D6-FA23-8C90-7D59A1C49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690" y="479915"/>
            <a:ext cx="5315225" cy="113286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6C5AAA0-097A-E211-DC9A-BB95EA90DD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49689" y="1948070"/>
            <a:ext cx="5315225" cy="41112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46F02B-D6EC-D033-7D76-94E3759A1B0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487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DBEC1529-1577-5B5F-A906-24D4A99D1143}"/>
              </a:ext>
            </a:extLst>
          </p:cNvPr>
          <p:cNvSpPr>
            <a:spLocks noGrp="1"/>
          </p:cNvSpPr>
          <p:nvPr>
            <p:ph type="pic" idx="15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6195957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3">
            <a:extLst>
              <a:ext uri="{FF2B5EF4-FFF2-40B4-BE49-F238E27FC236}">
                <a16:creationId xmlns:a16="http://schemas.microsoft.com/office/drawing/2014/main" id="{722CC027-6B6E-85B0-A8C3-64578F0614D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998226" y="637059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6"/>
                </a:solidFill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697E31-C660-9F76-8A94-301A2694C2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89134" y="6289908"/>
            <a:ext cx="802456" cy="445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5533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70719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2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4138459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601177"/>
                <a:ext cx="1463040" cy="138213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rgbClr val="4D5156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1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0353354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E34B6771-4E1A-8E8A-57C7-9B89E2B0D453}"/>
              </a:ext>
            </a:extLst>
          </p:cNvPr>
          <p:cNvGrpSpPr/>
          <p:nvPr userDrawn="1"/>
        </p:nvGrpSpPr>
        <p:grpSpPr>
          <a:xfrm>
            <a:off x="599927" y="502602"/>
            <a:ext cx="10992146" cy="5852796"/>
            <a:chOff x="1056488" y="840235"/>
            <a:chExt cx="10079022" cy="5366601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DF2B4CC-2CCE-0995-5F08-8729B2906144}"/>
                </a:ext>
              </a:extLst>
            </p:cNvPr>
            <p:cNvSpPr/>
            <p:nvPr userDrawn="1"/>
          </p:nvSpPr>
          <p:spPr>
            <a:xfrm>
              <a:off x="1281112" y="1179492"/>
              <a:ext cx="9629775" cy="4499016"/>
            </a:xfrm>
            <a:prstGeom prst="rect">
              <a:avLst/>
            </a:prstGeom>
            <a:noFill/>
            <a:ln w="31750" cap="rnd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0B0F4778-506D-12C4-CFF1-B44705EBF1E7}"/>
                </a:ext>
              </a:extLst>
            </p:cNvPr>
            <p:cNvSpPr/>
            <p:nvPr userDrawn="1"/>
          </p:nvSpPr>
          <p:spPr>
            <a:xfrm>
              <a:off x="1108364" y="2202873"/>
              <a:ext cx="8686800" cy="4003963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A25866-82EC-15C2-5B86-D686DCF0D95E}"/>
                </a:ext>
              </a:extLst>
            </p:cNvPr>
            <p:cNvSpPr/>
            <p:nvPr userDrawn="1"/>
          </p:nvSpPr>
          <p:spPr>
            <a:xfrm>
              <a:off x="1281112" y="1551709"/>
              <a:ext cx="9303761" cy="4126799"/>
            </a:xfrm>
            <a:prstGeom prst="rect">
              <a:avLst/>
            </a:prstGeom>
            <a:noFill/>
            <a:ln w="28575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BED4CB7E-1CB8-4177-2F4D-A8C517137EEC}"/>
                </a:ext>
              </a:extLst>
            </p:cNvPr>
            <p:cNvGrpSpPr/>
            <p:nvPr userDrawn="1"/>
          </p:nvGrpSpPr>
          <p:grpSpPr>
            <a:xfrm>
              <a:off x="1056488" y="840235"/>
              <a:ext cx="10079022" cy="5177530"/>
              <a:chOff x="1056489" y="805779"/>
              <a:chExt cx="10079022" cy="5177530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6FE904B-B1F0-F9D9-0C65-49BE23F0262D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1056489" y="805779"/>
                <a:ext cx="1529579" cy="1463040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4A792C-EAD1-1E17-404C-EFBEF7BFF411}"/>
                  </a:ext>
                </a:extLst>
              </p:cNvPr>
              <p:cNvSpPr>
                <a:spLocks/>
              </p:cNvSpPr>
              <p:nvPr userDrawn="1"/>
            </p:nvSpPr>
            <p:spPr>
              <a:xfrm>
                <a:off x="9672471" y="4598834"/>
                <a:ext cx="1463040" cy="1384475"/>
              </a:xfrm>
              <a:prstGeom prst="rect">
                <a:avLst/>
              </a:prstGeom>
              <a:solidFill>
                <a:schemeClr val="accent3"/>
              </a:solidFill>
              <a:ln w="19050">
                <a:solidFill>
                  <a:schemeClr val="accent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6B80C71-44A6-A20E-ADA6-E833525161AD}"/>
                </a:ext>
              </a:extLst>
            </p:cNvPr>
            <p:cNvSpPr/>
            <p:nvPr userDrawn="1"/>
          </p:nvSpPr>
          <p:spPr>
            <a:xfrm>
              <a:off x="1898073" y="1426825"/>
              <a:ext cx="8859548" cy="371321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5FAE7328-7EDE-37C7-F66D-C16DB72D3781}"/>
              </a:ext>
            </a:extLst>
          </p:cNvPr>
          <p:cNvSpPr txBox="1"/>
          <p:nvPr userDrawn="1"/>
        </p:nvSpPr>
        <p:spPr>
          <a:xfrm>
            <a:off x="847923" y="-38211"/>
            <a:ext cx="1174283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A022E4-7A5B-F38A-7860-1E739DC9F6F8}"/>
              </a:ext>
            </a:extLst>
          </p:cNvPr>
          <p:cNvSpPr txBox="1"/>
          <p:nvPr userDrawn="1"/>
        </p:nvSpPr>
        <p:spPr>
          <a:xfrm rot="10800000">
            <a:off x="10220850" y="2245036"/>
            <a:ext cx="1280669" cy="4508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700" b="0" i="0" u="none" strike="noStrike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</a:t>
            </a:r>
            <a:endParaRPr lang="en-US" sz="28700" dirty="0">
              <a:solidFill>
                <a:schemeClr val="tx1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D35EDAB-E6BE-EF48-6A71-C474D859C3F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58634" y="1633596"/>
            <a:ext cx="7185513" cy="28371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Really epic quote that makes everyone think. 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0E2487A3-96FC-5837-5057-788C5EA5DC72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2358635" y="4669312"/>
            <a:ext cx="7185512" cy="395869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0" i="0">
                <a:solidFill>
                  <a:schemeClr val="accent4"/>
                </a:solidFill>
                <a:latin typeface="Inter Light" panose="02000503000000020004" pitchFamily="2" charset="0"/>
                <a:ea typeface="Inter Light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- Quoted Source</a:t>
            </a:r>
          </a:p>
        </p:txBody>
      </p:sp>
    </p:spTree>
    <p:extLst>
      <p:ext uri="{BB962C8B-B14F-4D97-AF65-F5344CB8AC3E}">
        <p14:creationId xmlns:p14="http://schemas.microsoft.com/office/powerpoint/2010/main" val="28992575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8D21876-BA52-68C5-B349-CF8087B112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93EFA5F-3C5D-E81F-71B1-ECAE22A10C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55610A0-F551-19F2-EECF-A7E853EED79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89" y="1101188"/>
            <a:ext cx="3328576" cy="1849208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F12448B-DA87-1FE1-7CBF-F9F79437F72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32959947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4106C380-C29E-7390-E154-057377E5D8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97990" y="1101186"/>
            <a:ext cx="3328576" cy="1849208"/>
          </a:xfrm>
          <a:prstGeom prst="rect">
            <a:avLst/>
          </a:prstGeom>
        </p:spPr>
      </p:pic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67FA24A-C52F-B256-7134-1984E46267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6573" y="5641905"/>
            <a:ext cx="5714252" cy="395869"/>
          </a:xfrm>
        </p:spPr>
        <p:txBody>
          <a:bodyPr>
            <a:noAutofit/>
          </a:bodyPr>
          <a:lstStyle>
            <a:lvl1pPr marL="0" indent="0" algn="l">
              <a:buNone/>
              <a:defRPr sz="1800" b="0" i="0">
                <a:solidFill>
                  <a:schemeClr val="tx1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pPr lvl="0"/>
            <a:r>
              <a:rPr lang="en-US" dirty="0" err="1"/>
              <a:t>emailaddress@qlik.com</a:t>
            </a:r>
            <a:endParaRPr lang="en-US" dirty="0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67CD7BB3-59A8-A18C-D485-85765FFC2A9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46186" y="5004559"/>
            <a:ext cx="5714639" cy="46155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Call to Action</a:t>
            </a:r>
          </a:p>
        </p:txBody>
      </p:sp>
    </p:spTree>
    <p:extLst>
      <p:ext uri="{BB962C8B-B14F-4D97-AF65-F5344CB8AC3E}">
        <p14:creationId xmlns:p14="http://schemas.microsoft.com/office/powerpoint/2010/main" val="11590570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- Appendi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8A559919-4E94-0D09-D59B-D78DB4C2CA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1664288" y="0"/>
            <a:ext cx="10527712" cy="6858000"/>
          </a:xfrm>
          <a:prstGeom prst="rect">
            <a:avLst/>
          </a:prstGeom>
        </p:spPr>
      </p:pic>
      <p:pic>
        <p:nvPicPr>
          <p:cNvPr id="7" name="Picture 6" descr="A black background with green lines&#10;&#10;Description automatically generated">
            <a:extLst>
              <a:ext uri="{FF2B5EF4-FFF2-40B4-BE49-F238E27FC236}">
                <a16:creationId xmlns:a16="http://schemas.microsoft.com/office/drawing/2014/main" id="{08C28AA4-24E2-AEB6-7F25-DB964665F4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1188631" cy="6858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3149500-7912-3E96-5FB3-CBDE4B59313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431712" y="1579791"/>
            <a:ext cx="3328576" cy="184920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FD58846-2F05-9B9A-3023-E9972305255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273287" y="4176711"/>
            <a:ext cx="5645426" cy="1101498"/>
          </a:xfrm>
        </p:spPr>
        <p:txBody>
          <a:bodyPr anchor="t">
            <a:noAutofit/>
          </a:bodyPr>
          <a:lstStyle>
            <a:lvl1pPr marL="0" indent="0" algn="ctr">
              <a:buNone/>
              <a:defRPr sz="3200" b="1" i="0">
                <a:solidFill>
                  <a:schemeClr val="accent4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17922887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CB2775-04B1-042D-9E53-D0E611B5F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7539" y="1847574"/>
            <a:ext cx="10776922" cy="41087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Sixth level</a:t>
            </a:r>
          </a:p>
          <a:p>
            <a:pPr lvl="6"/>
            <a:r>
              <a:rPr lang="en-US" dirty="0"/>
              <a:t>Seventh Level</a:t>
            </a:r>
          </a:p>
          <a:p>
            <a:pPr lvl="4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75C6EB-E1EF-941D-4DCC-85515B9FC0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98226" y="618997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</a:defRPr>
            </a:lvl1pPr>
          </a:lstStyle>
          <a:p>
            <a:fld id="{93BFCDF7-B76A-EE4A-9647-B0AB6185052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8039E6F-BAB9-860A-05B9-20EE9032C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539" y="365125"/>
            <a:ext cx="1077692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226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41" r:id="rId2"/>
    <p:sldLayoutId id="2147483729" r:id="rId3"/>
    <p:sldLayoutId id="2147483747" r:id="rId4"/>
    <p:sldLayoutId id="2147483728" r:id="rId5"/>
    <p:sldLayoutId id="2147483727" r:id="rId6"/>
    <p:sldLayoutId id="2147483720" r:id="rId7"/>
    <p:sldLayoutId id="2147483724" r:id="rId8"/>
    <p:sldLayoutId id="2147483702" r:id="rId9"/>
    <p:sldLayoutId id="2147483746" r:id="rId10"/>
    <p:sldLayoutId id="2147483726" r:id="rId11"/>
    <p:sldLayoutId id="2147483732" r:id="rId12"/>
    <p:sldLayoutId id="2147483668" r:id="rId13"/>
    <p:sldLayoutId id="2147483750" r:id="rId14"/>
    <p:sldLayoutId id="2147483669" r:id="rId15"/>
    <p:sldLayoutId id="2147483670" r:id="rId16"/>
    <p:sldLayoutId id="2147483733" r:id="rId17"/>
    <p:sldLayoutId id="2147483752" r:id="rId18"/>
    <p:sldLayoutId id="2147483751" r:id="rId19"/>
    <p:sldLayoutId id="2147483748" r:id="rId20"/>
    <p:sldLayoutId id="2147483743" r:id="rId21"/>
    <p:sldLayoutId id="2147483742" r:id="rId22"/>
    <p:sldLayoutId id="2147483705" r:id="rId23"/>
    <p:sldLayoutId id="2147483735" r:id="rId24"/>
    <p:sldLayoutId id="2147483683" r:id="rId25"/>
    <p:sldLayoutId id="2147483738" r:id="rId26"/>
    <p:sldLayoutId id="2147483715" r:id="rId27"/>
    <p:sldLayoutId id="2147483749" r:id="rId28"/>
    <p:sldLayoutId id="2147483660" r:id="rId29"/>
    <p:sldLayoutId id="2147483682" r:id="rId30"/>
    <p:sldLayoutId id="2147483676" r:id="rId31"/>
    <p:sldLayoutId id="2147483691" r:id="rId32"/>
    <p:sldLayoutId id="2147483675" r:id="rId33"/>
    <p:sldLayoutId id="2147483745" r:id="rId34"/>
    <p:sldLayoutId id="2147483689" r:id="rId35"/>
    <p:sldLayoutId id="2147483690" r:id="rId36"/>
    <p:sldLayoutId id="2147483754" r:id="rId37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Inter SemiBold" panose="02000503000000020004" pitchFamily="2" charset="0"/>
          <a:ea typeface="Inter SemiBold" panose="02000503000000020004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20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Inter" panose="02000503000000020004" pitchFamily="2" charset="0"/>
          <a:ea typeface="Inter" panose="02000503000000020004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Courier New" panose="02070309020205020404" pitchFamily="49" charset="0"/>
        <a:buChar char="o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robertschoenfeldqlik/QlikObservabilityToolki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× QLIK CLOUD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Observability Stack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14400" y="32004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· Prometheus · Loki · Grafana · Python exporters · OpenTelemetry · Qlik Cloud Analytics</a:t>
            </a:r>
            <a:endParaRPr lang="en-US" sz="1600" dirty="0"/>
          </a:p>
        </p:txBody>
      </p:sp>
      <p:sp>
        <p:nvSpPr>
          <p:cNvPr id="6" name="Text 4">
            <a:hlinkClick r:id="rId1" tooltip="Open repo"/>
          </p:cNvPr>
          <p:cNvSpPr/>
          <p:nvPr/>
        </p:nvSpPr>
        <p:spPr>
          <a:xfrm>
            <a:off x="914400" y="3703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github.com/robertschoenfeldqlik/QlikObservabilityToolkit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+ 8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9728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tools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Read-only Talend (8) + Qlik Cloud (8) observability tools, tenancy-aware, + the tenant-discovery meta-tool.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N+N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48056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8056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Multiple Talend + multiple Qlik tenants in one config.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680960" y="4297680"/>
            <a:ext cx="310896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0" y="44348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863840" y="4892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863840" y="51663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 logs · QVD upload · Qlik observability.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4520" y="310896"/>
            <a:ext cx="9509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spc="-30" kern="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Toolkit — architecture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1874520" y="804672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 → collection &amp; control → store, visualize &amp; analyze — with telemetry export.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2F8F4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898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0" y="1280160"/>
            <a:ext cx="4160520" cy="3931920"/>
          </a:xfrm>
          <a:prstGeom prst="roundRect">
            <a:avLst>
              <a:gd name="adj" fmla="val 1860"/>
            </a:avLst>
          </a:prstGeom>
          <a:solidFill>
            <a:srgbClr val="F1F6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51960" y="1389888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COLLECTION + CONTROL PLANE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549640" y="1280160"/>
            <a:ext cx="3154680" cy="3931920"/>
          </a:xfrm>
          <a:prstGeom prst="roundRect">
            <a:avLst>
              <a:gd name="adj" fmla="val 2319"/>
            </a:avLst>
          </a:prstGeom>
          <a:solidFill>
            <a:srgbClr val="F4F1F8"/>
          </a:solidFill>
          <a:ln w="12700">
            <a:solidFill>
              <a:srgbClr val="E1E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0" y="1389888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· VISUALIZE · ANALYZE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69164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9357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691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93579C"/>
          </a:solidFill>
          <a:ln/>
        </p:spPr>
      </p:sp>
      <p:pic>
        <p:nvPicPr>
          <p:cNvPr id="12" name="Image 0" descr="deploy/assets/icons/talend-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860804"/>
            <a:ext cx="530352" cy="53035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08760" y="18013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— N tenants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508760" y="209397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· Observability · Exec-history · Audit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94360" y="283464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94360" y="2834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17" name="Image 1" descr="deploy/assets/icons/qlik-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3003804"/>
            <a:ext cx="530352" cy="53035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508760" y="29443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— N tenants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508760" y="323697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Apps · Reloads · Audit · Quotas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94360" y="3977640"/>
            <a:ext cx="31089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658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94360" y="3977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6580"/>
          </a:solidFill>
          <a:ln/>
        </p:spPr>
      </p:sp>
      <p:pic>
        <p:nvPicPr>
          <p:cNvPr id="22" name="Image 2" descr="deploy/assets/icons/remote-engi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4146804"/>
            <a:ext cx="530352" cy="53035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08760" y="4087368"/>
            <a:ext cx="2103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Remote Engine hosts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508760" y="4379976"/>
            <a:ext cx="21031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job-management logs on Linux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251960" y="169164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251960" y="1691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27" name="Image 3" descr="deploy/assets/icons/mc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1416" y="1860804"/>
            <a:ext cx="530352" cy="53035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166360" y="180136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server (TS)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5166360" y="209397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stdio · per-tenant routing · Talend + Qlik obs tools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251960" y="283464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251960" y="2834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pic>
        <p:nvPicPr>
          <p:cNvPr id="32" name="Image 4" descr="deploy/assets/icons/export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1416" y="3003804"/>
            <a:ext cx="530352" cy="53035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166360" y="294436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exporters ×4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5166360" y="323697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· engine-logs · qlik-obs · qvd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251960" y="3977640"/>
            <a:ext cx="388620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251960" y="3977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37" name="Image 5" descr="deploy/assets/icons/extracto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1416" y="4146804"/>
            <a:ext cx="530352" cy="5303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166360" y="4087368"/>
            <a:ext cx="2880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qlik-engine-extractor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5166360" y="4379976"/>
            <a:ext cx="288036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headless agent · self-diagnosing · heartbeats</a:t>
            </a:r>
            <a:endParaRPr lang="en-US" sz="900" dirty="0"/>
          </a:p>
        </p:txBody>
      </p:sp>
      <p:sp>
        <p:nvSpPr>
          <p:cNvPr id="40" name="Shape 32"/>
          <p:cNvSpPr/>
          <p:nvPr/>
        </p:nvSpPr>
        <p:spPr>
          <a:xfrm>
            <a:off x="8686800" y="169164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2D3543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8686800" y="1691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2D3543"/>
          </a:solidFill>
          <a:ln/>
        </p:spPr>
      </p:sp>
      <p:pic>
        <p:nvPicPr>
          <p:cNvPr id="42" name="Image 6" descr="deploy/assets/icons/prometheu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6256" y="1860804"/>
            <a:ext cx="530352" cy="530352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601200" y="1801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</a:t>
            </a:r>
            <a:endParaRPr lang="en-US" sz="1200" dirty="0"/>
          </a:p>
        </p:txBody>
      </p:sp>
      <p:sp>
        <p:nvSpPr>
          <p:cNvPr id="44" name="Text 35"/>
          <p:cNvSpPr/>
          <p:nvPr/>
        </p:nvSpPr>
        <p:spPr>
          <a:xfrm>
            <a:off x="9601200" y="209397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scrape all /metrics · 14d</a:t>
            </a:r>
            <a:endParaRPr lang="en-US" sz="900" dirty="0"/>
          </a:p>
        </p:txBody>
      </p:sp>
      <p:sp>
        <p:nvSpPr>
          <p:cNvPr id="45" name="Shape 36"/>
          <p:cNvSpPr/>
          <p:nvPr/>
        </p:nvSpPr>
        <p:spPr>
          <a:xfrm>
            <a:off x="8686800" y="283464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10CFC9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8686800" y="2834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10CFC9"/>
          </a:solidFill>
          <a:ln/>
        </p:spPr>
      </p:sp>
      <p:pic>
        <p:nvPicPr>
          <p:cNvPr id="47" name="Image 7" descr="deploy/assets/icons/grafan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06256" y="3003804"/>
            <a:ext cx="530352" cy="530352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9601200" y="2944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+ Grafana</a:t>
            </a:r>
            <a:endParaRPr lang="en-US" sz="1200" dirty="0"/>
          </a:p>
        </p:txBody>
      </p:sp>
      <p:sp>
        <p:nvSpPr>
          <p:cNvPr id="49" name="Text 39"/>
          <p:cNvSpPr/>
          <p:nvPr/>
        </p:nvSpPr>
        <p:spPr>
          <a:xfrm>
            <a:off x="9601200" y="323697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logs + 2 dashboards</a:t>
            </a:r>
            <a:endParaRPr lang="en-US" sz="900" dirty="0"/>
          </a:p>
        </p:txBody>
      </p:sp>
      <p:sp>
        <p:nvSpPr>
          <p:cNvPr id="50" name="Shape 40"/>
          <p:cNvSpPr/>
          <p:nvPr/>
        </p:nvSpPr>
        <p:spPr>
          <a:xfrm>
            <a:off x="8686800" y="3977640"/>
            <a:ext cx="28803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5875">
            <a:solidFill>
              <a:srgbClr val="009845"/>
            </a:solidFill>
            <a:prstDash val="solid"/>
          </a:ln>
        </p:spPr>
      </p:sp>
      <p:sp>
        <p:nvSpPr>
          <p:cNvPr id="51" name="Shape 41"/>
          <p:cNvSpPr/>
          <p:nvPr/>
        </p:nvSpPr>
        <p:spPr>
          <a:xfrm>
            <a:off x="8686800" y="3977640"/>
            <a:ext cx="91440" cy="868680"/>
          </a:xfrm>
          <a:prstGeom prst="roundRect">
            <a:avLst>
              <a:gd name="adj" fmla="val 70000"/>
            </a:avLst>
          </a:prstGeom>
          <a:solidFill>
            <a:srgbClr val="009845"/>
          </a:solidFill>
          <a:ln/>
        </p:spPr>
      </p:sp>
      <p:pic>
        <p:nvPicPr>
          <p:cNvPr id="52" name="Image 8" descr="deploy/assets/icons/qlik-ap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6256" y="4146804"/>
            <a:ext cx="530352" cy="530352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9601200" y="4087368"/>
            <a:ext cx="1874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Analytics app</a:t>
            </a:r>
            <a:endParaRPr lang="en-US" sz="1200" dirty="0"/>
          </a:p>
        </p:txBody>
      </p:sp>
      <p:sp>
        <p:nvSpPr>
          <p:cNvPr id="54" name="Text 43"/>
          <p:cNvSpPr/>
          <p:nvPr/>
        </p:nvSpPr>
        <p:spPr>
          <a:xfrm>
            <a:off x="9601200" y="4379976"/>
            <a:ext cx="1874520" cy="393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QVD-driven trend / BI</a:t>
            </a:r>
            <a:endParaRPr lang="en-US" sz="900" dirty="0"/>
          </a:p>
        </p:txBody>
      </p:sp>
      <p:sp>
        <p:nvSpPr>
          <p:cNvPr id="55" name="Shape 44"/>
          <p:cNvSpPr/>
          <p:nvPr/>
        </p:nvSpPr>
        <p:spPr>
          <a:xfrm>
            <a:off x="3703320" y="2125980"/>
            <a:ext cx="548640" cy="0"/>
          </a:xfrm>
          <a:prstGeom prst="line">
            <a:avLst/>
          </a:prstGeom>
          <a:noFill/>
          <a:ln w="22225">
            <a:solidFill>
              <a:srgbClr val="93579C"/>
            </a:solidFill>
            <a:prstDash val="solid"/>
            <a:tailEnd type="triangle"/>
          </a:ln>
        </p:spPr>
      </p:sp>
      <p:sp>
        <p:nvSpPr>
          <p:cNvPr id="56" name="Shape 45"/>
          <p:cNvSpPr/>
          <p:nvPr/>
        </p:nvSpPr>
        <p:spPr>
          <a:xfrm>
            <a:off x="3703320" y="3268980"/>
            <a:ext cx="548640" cy="1143000"/>
          </a:xfrm>
          <a:prstGeom prst="line">
            <a:avLst/>
          </a:prstGeom>
          <a:noFill/>
          <a:ln w="22225">
            <a:solidFill>
              <a:srgbClr val="009845"/>
            </a:solidFill>
            <a:prstDash val="solid"/>
            <a:tailEnd type="triangle"/>
          </a:ln>
        </p:spPr>
      </p:sp>
      <p:sp>
        <p:nvSpPr>
          <p:cNvPr id="57" name="Shape 46"/>
          <p:cNvSpPr/>
          <p:nvPr/>
        </p:nvSpPr>
        <p:spPr>
          <a:xfrm>
            <a:off x="3703320" y="4411980"/>
            <a:ext cx="548640" cy="0"/>
          </a:xfrm>
          <a:prstGeom prst="line">
            <a:avLst/>
          </a:prstGeom>
          <a:noFill/>
          <a:ln w="22225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58" name="Shape 47"/>
          <p:cNvSpPr/>
          <p:nvPr/>
        </p:nvSpPr>
        <p:spPr>
          <a:xfrm>
            <a:off x="8138160" y="2125980"/>
            <a:ext cx="548640" cy="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59" name="Shape 48"/>
          <p:cNvSpPr/>
          <p:nvPr/>
        </p:nvSpPr>
        <p:spPr>
          <a:xfrm>
            <a:off x="8138160" y="3268980"/>
            <a:ext cx="548640" cy="-1143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0" name="Shape 49"/>
          <p:cNvSpPr/>
          <p:nvPr/>
        </p:nvSpPr>
        <p:spPr>
          <a:xfrm>
            <a:off x="8138160" y="4411980"/>
            <a:ext cx="548640" cy="-2286000"/>
          </a:xfrm>
          <a:prstGeom prst="line">
            <a:avLst/>
          </a:prstGeom>
          <a:noFill/>
          <a:ln w="22225">
            <a:solidFill>
              <a:srgbClr val="19416C"/>
            </a:solidFill>
            <a:prstDash val="solid"/>
            <a:tailEnd type="triangle"/>
          </a:ln>
        </p:spPr>
      </p:sp>
      <p:sp>
        <p:nvSpPr>
          <p:cNvPr id="61" name="Text 50"/>
          <p:cNvSpPr/>
          <p:nvPr/>
        </p:nvSpPr>
        <p:spPr>
          <a:xfrm>
            <a:off x="457200" y="5321808"/>
            <a:ext cx="11247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EXPORT · OPENTELEMETRY COLLECTOR</a:t>
            </a:r>
            <a:endParaRPr lang="en-US" sz="1100" dirty="0"/>
          </a:p>
        </p:txBody>
      </p:sp>
      <p:sp>
        <p:nvSpPr>
          <p:cNvPr id="62" name="Shape 51"/>
          <p:cNvSpPr/>
          <p:nvPr/>
        </p:nvSpPr>
        <p:spPr>
          <a:xfrm>
            <a:off x="594360" y="5623560"/>
            <a:ext cx="384048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875">
            <a:solidFill>
              <a:srgbClr val="006580"/>
            </a:solidFill>
            <a:prstDash val="solid"/>
          </a:ln>
        </p:spPr>
      </p:sp>
      <p:sp>
        <p:nvSpPr>
          <p:cNvPr id="63" name="Shape 52"/>
          <p:cNvSpPr/>
          <p:nvPr/>
        </p:nvSpPr>
        <p:spPr>
          <a:xfrm>
            <a:off x="594360" y="5623560"/>
            <a:ext cx="91440" cy="841248"/>
          </a:xfrm>
          <a:prstGeom prst="roundRect">
            <a:avLst>
              <a:gd name="adj" fmla="val 70000"/>
            </a:avLst>
          </a:prstGeom>
          <a:solidFill>
            <a:srgbClr val="006580"/>
          </a:solidFill>
          <a:ln/>
        </p:spPr>
      </p:sp>
      <p:sp>
        <p:nvSpPr>
          <p:cNvPr id="64" name="Text 53"/>
          <p:cNvSpPr/>
          <p:nvPr/>
        </p:nvSpPr>
        <p:spPr>
          <a:xfrm>
            <a:off x="850392" y="5733288"/>
            <a:ext cx="34930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OpenTelemetry Collector</a:t>
            </a:r>
            <a:endParaRPr lang="en-US" sz="1200" dirty="0"/>
          </a:p>
        </p:txBody>
      </p:sp>
      <p:sp>
        <p:nvSpPr>
          <p:cNvPr id="65" name="Text 54"/>
          <p:cNvSpPr/>
          <p:nvPr/>
        </p:nvSpPr>
        <p:spPr>
          <a:xfrm>
            <a:off x="850392" y="6025896"/>
            <a:ext cx="349300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OTLP receiver · scrapes every /metrics · batch + route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4937760" y="5623560"/>
            <a:ext cx="320040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875">
            <a:solidFill>
              <a:srgbClr val="93579C"/>
            </a:solidFill>
            <a:prstDash val="solid"/>
          </a:ln>
        </p:spPr>
      </p:sp>
      <p:sp>
        <p:nvSpPr>
          <p:cNvPr id="67" name="Shape 56"/>
          <p:cNvSpPr/>
          <p:nvPr/>
        </p:nvSpPr>
        <p:spPr>
          <a:xfrm>
            <a:off x="4937760" y="5623560"/>
            <a:ext cx="91440" cy="841248"/>
          </a:xfrm>
          <a:prstGeom prst="roundRect">
            <a:avLst>
              <a:gd name="adj" fmla="val 70000"/>
            </a:avLst>
          </a:prstGeom>
          <a:solidFill>
            <a:srgbClr val="93579C"/>
          </a:solidFill>
          <a:ln/>
        </p:spPr>
      </p:sp>
      <p:sp>
        <p:nvSpPr>
          <p:cNvPr id="68" name="Text 57"/>
          <p:cNvSpPr/>
          <p:nvPr/>
        </p:nvSpPr>
        <p:spPr>
          <a:xfrm>
            <a:off x="5193792" y="5733288"/>
            <a:ext cx="285292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Datadog</a:t>
            </a:r>
            <a:endParaRPr lang="en-US" sz="1200" dirty="0"/>
          </a:p>
        </p:txBody>
      </p:sp>
      <p:sp>
        <p:nvSpPr>
          <p:cNvPr id="69" name="Text 58"/>
          <p:cNvSpPr/>
          <p:nvPr/>
        </p:nvSpPr>
        <p:spPr>
          <a:xfrm>
            <a:off x="5193792" y="6025896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 · logs · APM  (datadog exporter)</a:t>
            </a:r>
            <a:endParaRPr lang="en-US" sz="900" dirty="0"/>
          </a:p>
        </p:txBody>
      </p:sp>
      <p:sp>
        <p:nvSpPr>
          <p:cNvPr id="70" name="Shape 59"/>
          <p:cNvSpPr/>
          <p:nvPr/>
        </p:nvSpPr>
        <p:spPr>
          <a:xfrm>
            <a:off x="8321040" y="5623560"/>
            <a:ext cx="324612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15875">
            <a:solidFill>
              <a:srgbClr val="19416C"/>
            </a:solidFill>
            <a:prstDash val="solid"/>
          </a:ln>
        </p:spPr>
      </p:sp>
      <p:sp>
        <p:nvSpPr>
          <p:cNvPr id="71" name="Shape 60"/>
          <p:cNvSpPr/>
          <p:nvPr/>
        </p:nvSpPr>
        <p:spPr>
          <a:xfrm>
            <a:off x="8321040" y="5623560"/>
            <a:ext cx="91440" cy="841248"/>
          </a:xfrm>
          <a:prstGeom prst="roundRect">
            <a:avLst>
              <a:gd name="adj" fmla="val 70000"/>
            </a:avLst>
          </a:prstGeom>
          <a:solidFill>
            <a:srgbClr val="19416C"/>
          </a:solidFill>
          <a:ln/>
        </p:spPr>
      </p:sp>
      <p:sp>
        <p:nvSpPr>
          <p:cNvPr id="72" name="Text 61"/>
          <p:cNvSpPr/>
          <p:nvPr/>
        </p:nvSpPr>
        <p:spPr>
          <a:xfrm>
            <a:off x="8577072" y="5733288"/>
            <a:ext cx="28986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Splunk</a:t>
            </a:r>
            <a:endParaRPr lang="en-US" sz="1200" dirty="0"/>
          </a:p>
        </p:txBody>
      </p:sp>
      <p:sp>
        <p:nvSpPr>
          <p:cNvPr id="73" name="Text 62"/>
          <p:cNvSpPr/>
          <p:nvPr/>
        </p:nvSpPr>
        <p:spPr>
          <a:xfrm>
            <a:off x="8577072" y="6025896"/>
            <a:ext cx="28986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HEC / Observability Cloud  (splunk_hec)</a:t>
            </a:r>
            <a:endParaRPr lang="en-US" sz="900" dirty="0"/>
          </a:p>
        </p:txBody>
      </p:sp>
      <p:sp>
        <p:nvSpPr>
          <p:cNvPr id="74" name="Shape 63"/>
          <p:cNvSpPr/>
          <p:nvPr/>
        </p:nvSpPr>
        <p:spPr>
          <a:xfrm>
            <a:off x="4434840" y="6044184"/>
            <a:ext cx="502920" cy="0"/>
          </a:xfrm>
          <a:prstGeom prst="line">
            <a:avLst/>
          </a:prstGeom>
          <a:noFill/>
          <a:ln w="22225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75" name="Shape 64"/>
          <p:cNvSpPr/>
          <p:nvPr/>
        </p:nvSpPr>
        <p:spPr>
          <a:xfrm>
            <a:off x="8138160" y="6044184"/>
            <a:ext cx="182880" cy="0"/>
          </a:xfrm>
          <a:prstGeom prst="line">
            <a:avLst/>
          </a:prstGeom>
          <a:noFill/>
          <a:ln w="22225">
            <a:solidFill>
              <a:srgbClr val="006580"/>
            </a:solidFill>
            <a:prstDash val="solid"/>
            <a:tailEnd type="triangle"/>
          </a:ln>
        </p:spPr>
      </p:sp>
      <p:sp>
        <p:nvSpPr>
          <p:cNvPr id="76" name="Shape 6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9845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4520" y="29260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by design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config.json (v2 schema) lists every Talend tenant and every Qlik tenant. The UI manages them; exporters fan out by reading the same file.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63040"/>
            <a:ext cx="5486400" cy="45720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tenants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prod-us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(US)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https://api.us.cloud.talend.com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1168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12" name="Text 10"/>
          <p:cNvSpPr/>
          <p:nvPr/>
        </p:nvSpPr>
        <p:spPr>
          <a:xfrm>
            <a:off x="507492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dev-eu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(EU)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01168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https://api.eu.cloud.talend.com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01168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cloud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https://api.internal.example.com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01168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keychain  (URL override)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9319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ap-test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4187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 testing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01168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https://api.ap.cloud.talend.com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011680" y="42062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5720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azure-w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82803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US-West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4572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https://api.us-west.cloud.talend.com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011680" y="4846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 · file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1463040"/>
            <a:ext cx="548640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463040"/>
            <a:ext cx="5486400" cy="45720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tenants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201168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qlik-prod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226771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 tenant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772400" y="20116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https://prod.us.qlikcloud.com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keychain · DataFiles connection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10835640" y="2029968"/>
            <a:ext cx="777240" cy="256032"/>
          </a:xfrm>
          <a:prstGeom prst="roundRect">
            <a:avLst>
              <a:gd name="adj" fmla="val 14286"/>
            </a:avLst>
          </a:prstGeom>
          <a:solidFill>
            <a:srgbClr val="009845"/>
          </a:solidFill>
          <a:ln/>
        </p:spPr>
      </p:sp>
      <p:sp>
        <p:nvSpPr>
          <p:cNvPr id="37" name="Text 35"/>
          <p:cNvSpPr/>
          <p:nvPr/>
        </p:nvSpPr>
        <p:spPr>
          <a:xfrm>
            <a:off x="10835640" y="2048256"/>
            <a:ext cx="7772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00800" y="26517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qlik-eu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290779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EU tenant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0" y="2651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https://eu.eu.qlikcloud.com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772400" y="29260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3291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qlik-dev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00800" y="3547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 sandbox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772400" y="32918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https://dev.us.qlikcloud.com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772400" y="3566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key · file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4520" y="292608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surface · configuration UI · Python control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MCP TOOL PRESETS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9050">
            <a:solidFill>
              <a:srgbClr val="00984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tools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Default. Pure read-only: observability-metrics, execution-logs, execution-history-search, plus the tenant-discovery meta-tool. Drops audit.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DEFAULT — LOADED OUT OF THE BOX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97480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29000" y="1508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logging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tools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29000" y="2148840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as observability + audit-logs (identity events).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5605272" cy="210312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508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Observability-only by design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53035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orchestration or admin endpoints are exposed. Talend presets: observability (default) + logging. Qlik Cloud adds a read-only qlik_observability__* tool family (apps, reloads, audits, quotas, spaces, users) — every tool is tenancy-aware. Need a wider Talend surface? Pass an explicit TMC_APIS=&lt;comma,list&gt;.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9B3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CONFIGURATION UI (npm run config-ui)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2697480" cy="365760"/>
          </a:xfrm>
          <a:prstGeom prst="rect">
            <a:avLst/>
          </a:prstGeom>
          <a:solidFill>
            <a:srgbClr val="93579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Per-tenant region + URL override. Test connection. File or OS-keyring storage.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4114800"/>
            <a:ext cx="2697480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23" name="Text 21"/>
          <p:cNvSpPr/>
          <p:nvPr/>
        </p:nvSpPr>
        <p:spPr>
          <a:xfrm>
            <a:off x="342900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/ edit / delete tenants. Tenant URL + API key + Data Files connection ID. Test against /api/v1/users/me.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26480" y="4114800"/>
            <a:ext cx="2697480" cy="365760"/>
          </a:xfrm>
          <a:prstGeom prst="rect">
            <a:avLst/>
          </a:prstGeom>
          <a:solidFill>
            <a:srgbClr val="19416C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status of every Python exporter (Docker-aware). Start / Stop with one click. Shows active series count.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961120" y="4114800"/>
            <a:ext cx="269748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6350">
            <a:solidFill>
              <a:srgbClr val="A9B3B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61120" y="4114800"/>
            <a:ext cx="2697480" cy="365760"/>
          </a:xfrm>
          <a:prstGeom prst="rect">
            <a:avLst/>
          </a:prstGeom>
          <a:solidFill>
            <a:srgbClr val="006580"/>
          </a:solidFill>
          <a:ln/>
        </p:spPr>
      </p:sp>
      <p:sp>
        <p:nvSpPr>
          <p:cNvPr id="31" name="Text 29"/>
          <p:cNvSpPr/>
          <p:nvPr/>
        </p:nvSpPr>
        <p:spPr>
          <a:xfrm>
            <a:off x="9098280" y="416966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About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098280" y="4617720"/>
            <a:ext cx="2423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 file location, keyring backend status, nuke-all button, shutdown button.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74520" y="365760"/>
            <a:ext cx="9509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35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1874520" y="896112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index in HELP.md. Every external doc this project relies on, sorted by topic.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1247120" cy="548640"/>
          </a:xfrm>
          <a:prstGeom prst="roundRect">
            <a:avLst>
              <a:gd name="adj" fmla="val 13333"/>
            </a:avLst>
          </a:prstGeom>
          <a:solidFill>
            <a:srgbClr val="009845"/>
          </a:solidFill>
          <a:ln/>
        </p:spPr>
      </p:sp>
      <p:sp>
        <p:nvSpPr>
          <p:cNvPr id="5" name="Text 3">
            <a:hlinkClick r:id="rId1" tooltip="Open repo"/>
          </p:cNvPr>
          <p:cNvSpPr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u="sng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Open rep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▸  github.com/robertschoenfeldqlik/QlikObservabilityToolkit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Cloud APIs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8346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https://talend.qlik.dev/apis/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217920" y="23317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Talend Remote Engine job logs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https://help.qlik.com/talend/en-US/remote-engine-user-guide-linux/Cloud/job-management-logs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APIs (qlik.dev)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3464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21792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Data Files API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595360" y="28346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https://qlik.dev/apis/rest/data-files/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Cloud API key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https://qlik.dev/authenticate/api-key/manage-api-keys/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UI palette source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595360" y="33375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https://qlik.dev/manage/data-connections/create-data-connections/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Context Protocol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https://modelcontextprotocol.io/specification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38404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Prometheus metric naming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595360" y="38404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https://prometheus.io/docs/practices/naming/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Grafana dashboard provisioning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https://grafana.com/docs/grafana/latest/administration/provisioning/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217920" y="4343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/ Promtail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95360" y="43434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https://grafana.com/docs/loki/latest/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pyqvd (Python QVD I/O)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83464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https://pypi.org/project/pyqvd/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48463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984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@napi-rs/keyring (OS keyring binding)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9536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56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https://github.com/Brooooooklyn/keyring-node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09845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4710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Qlik Observability Toolkit · built on the Qlik stack · Inter typeface · #009845 / #006580 / #19416C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lik Color Palette">
      <a:dk1>
        <a:srgbClr val="545659"/>
      </a:dk1>
      <a:lt1>
        <a:srgbClr val="FFFFFF"/>
      </a:lt1>
      <a:dk2>
        <a:srgbClr val="19416C"/>
      </a:dk2>
      <a:lt2>
        <a:srgbClr val="F6F7F8"/>
      </a:lt2>
      <a:accent1>
        <a:srgbClr val="009845"/>
      </a:accent1>
      <a:accent2>
        <a:srgbClr val="19416C"/>
      </a:accent2>
      <a:accent3>
        <a:srgbClr val="006580"/>
      </a:accent3>
      <a:accent4>
        <a:srgbClr val="10CFC9"/>
      </a:accent4>
      <a:accent5>
        <a:srgbClr val="93579C"/>
      </a:accent5>
      <a:accent6>
        <a:srgbClr val="A9B3B6"/>
      </a:accent6>
      <a:hlink>
        <a:srgbClr val="19406C"/>
      </a:hlink>
      <a:folHlink>
        <a:srgbClr val="2D3543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Qlik Powerpoint_INSTRUCTIONS" id="{C118317D-9FB4-8C45-8421-2F4B74AF6920}" vid="{2874E7B9-0DC7-9C48-8302-25758D8B1A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Built on the Qlik stack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Qlik Observability Toolkit Architecture</dc:title>
  <dc:subject>PptxGenJS Presentation</dc:subject>
  <dc:creator>Qlik Observability Toolkit Server</dc:creator>
  <cp:lastModifiedBy>Qlik Observability Toolkit Server</cp:lastModifiedBy>
  <cp:revision>1</cp:revision>
  <dcterms:created xsi:type="dcterms:W3CDTF">2026-06-09T21:10:45Z</dcterms:created>
  <dcterms:modified xsi:type="dcterms:W3CDTF">2026-06-09T21:10:45Z</dcterms:modified>
</cp:coreProperties>
</file>